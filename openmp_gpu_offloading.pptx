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355" r:id="rId3"/>
    <p:sldId id="357" r:id="rId4"/>
    <p:sldId id="353" r:id="rId5"/>
    <p:sldId id="348" r:id="rId6"/>
    <p:sldId id="359" r:id="rId7"/>
    <p:sldId id="360" r:id="rId8"/>
    <p:sldId id="361" r:id="rId9"/>
    <p:sldId id="362" r:id="rId10"/>
    <p:sldId id="363" r:id="rId11"/>
    <p:sldId id="364" r:id="rId12"/>
    <p:sldId id="366" r:id="rId13"/>
    <p:sldId id="367" r:id="rId14"/>
    <p:sldId id="365" r:id="rId15"/>
    <p:sldId id="368" r:id="rId16"/>
    <p:sldId id="369" r:id="rId17"/>
    <p:sldId id="370" r:id="rId18"/>
    <p:sldId id="371" r:id="rId19"/>
    <p:sldId id="377" r:id="rId20"/>
    <p:sldId id="373" r:id="rId21"/>
    <p:sldId id="374" r:id="rId22"/>
    <p:sldId id="375" r:id="rId23"/>
    <p:sldId id="376" r:id="rId24"/>
    <p:sldId id="372" r:id="rId25"/>
    <p:sldId id="358" r:id="rId2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9AB0FB-8713-41BE-A0ED-74E55CAC7DAA}" v="1" dt="2025-11-03T12:53:01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rt Jan Bex" userId="b602d378c858ceb4" providerId="LiveId" clId="{F3ED9F1C-8CBC-4187-814C-78BF1965CBEE}"/>
    <pc:docChg chg="custSel modSld">
      <pc:chgData name="Geert Jan Bex" userId="b602d378c858ceb4" providerId="LiveId" clId="{F3ED9F1C-8CBC-4187-814C-78BF1965CBEE}" dt="2025-11-03T12:53:25.071" v="5" actId="1076"/>
      <pc:docMkLst>
        <pc:docMk/>
      </pc:docMkLst>
      <pc:sldChg chg="addSp delSp modSp mod">
        <pc:chgData name="Geert Jan Bex" userId="b602d378c858ceb4" providerId="LiveId" clId="{F3ED9F1C-8CBC-4187-814C-78BF1965CBEE}" dt="2025-11-03T12:53:25.071" v="5" actId="1076"/>
        <pc:sldMkLst>
          <pc:docMk/>
          <pc:sldMk cId="695502024" sldId="257"/>
        </pc:sldMkLst>
        <pc:picChg chg="del">
          <ac:chgData name="Geert Jan Bex" userId="b602d378c858ceb4" providerId="LiveId" clId="{F3ED9F1C-8CBC-4187-814C-78BF1965CBEE}" dt="2025-11-03T12:53:05.492" v="3" actId="478"/>
          <ac:picMkLst>
            <pc:docMk/>
            <pc:sldMk cId="695502024" sldId="257"/>
            <ac:picMk id="5" creationId="{728BE29A-27A3-AC41-EAC1-DA88C291BB39}"/>
          </ac:picMkLst>
        </pc:picChg>
        <pc:picChg chg="add mod">
          <ac:chgData name="Geert Jan Bex" userId="b602d378c858ceb4" providerId="LiveId" clId="{F3ED9F1C-8CBC-4187-814C-78BF1965CBEE}" dt="2025-11-03T12:53:25.071" v="5" actId="1076"/>
          <ac:picMkLst>
            <pc:docMk/>
            <pc:sldMk cId="695502024" sldId="257"/>
            <ac:picMk id="9" creationId="{7CCF5E5B-78F2-5787-8B30-ABBD2AC6FA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644CB-8FFF-4F59-B04D-9A1D2A5DB720}" type="datetimeFigureOut">
              <a:rPr lang="LID4096" smtClean="0"/>
              <a:t>06/23/2026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B56DA1-3D99-4D19-9FEB-5AC9318F79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3418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495A0-BC49-8BC7-1E67-C4B11669D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900E4-3B6F-DF8D-A7E9-E87ACA05A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996B0-26F5-65C2-4CAF-CF343A6F4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C7A01-813B-4B59-A1CC-F2D63921E46A}" type="datetime1">
              <a:rPr lang="LID4096" smtClean="0"/>
              <a:t>06/23/2026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FB615-95FB-1537-3191-B298AB7C3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110DC-31BC-7B20-17FF-310635056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446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8CFE0-2AC0-20ED-73B0-DFEFBB29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99922-9839-DC11-7C1D-ECADEB76E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E9A3D-7BDD-6410-DA6F-FEFCD2B18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C8B8A-B2CE-4D78-88A4-476B2363B71E}" type="datetime1">
              <a:rPr lang="LID4096" smtClean="0"/>
              <a:t>06/23/2026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A90FE-55A1-7B15-FD37-1BCA33A25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7E73B-D033-E0BF-6482-AD60F16D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07084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239B-0275-2624-DB81-0073ABD42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DA172-6B82-EE0F-2416-127BEF687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CA1B6-427A-6E7C-2AFA-D1EAEBCD9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AB553-EE67-480E-BCE3-F64D7D51D294}" type="datetime1">
              <a:rPr lang="LID4096" smtClean="0"/>
              <a:t>06/23/2026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4012E-CDF7-D679-B514-2CBC536D9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633E4-6D54-38AB-E9B4-2F51C2812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9248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1B74F-C018-95A8-027A-3FF46422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DA37D-E9D6-3DCD-59DF-8AF936E5B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DF64B-0394-0D71-631C-C785F759B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8D6A4-379D-4A0E-2836-A41BD4B4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70038-A599-4345-BE24-96A4E06BF8E3}" type="datetime1">
              <a:rPr lang="LID4096" smtClean="0"/>
              <a:t>06/23/2026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53563-6A2D-1248-28AA-B6430C383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9FB0A-1310-A96A-1402-36A73BD6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15645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8611B-B5B0-EDFB-DE7F-36186440A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BDBDB-270E-7F86-324F-E5275BDCA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95170-0ECD-519A-4581-6EE194EA8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6B4056-2B27-C5AB-9540-BAFE7B980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B4B51-DA67-08D5-D585-5B6369365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C0D61-D66B-66F0-9E7A-3BFE464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19F7-59BE-4FD1-8AC5-F7BFCCA290D7}" type="datetime1">
              <a:rPr lang="LID4096" smtClean="0"/>
              <a:t>06/23/2026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55B6F-9C13-8619-447D-D1CD0CD5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1414A0-6B8B-80E9-8AEB-4B2F55F3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4082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E8F80-DF2C-02C9-F9CE-30DC0A664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96BA8-AF4F-D72D-E98D-EA94266FC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93A37-6A61-4F10-A100-9676ACB86039}" type="datetime1">
              <a:rPr lang="LID4096" smtClean="0"/>
              <a:t>06/23/2026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BF2A7-B010-2894-CC55-E9E63E8F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EC4B5-0741-2E3F-9A78-1C1E2C31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4990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8C7838-3BAB-A1C5-8CAF-67D592D70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F7F9-09CC-4C21-BDB8-90E2F1A013BD}" type="datetime1">
              <a:rPr lang="LID4096" smtClean="0"/>
              <a:t>06/23/2026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E5432-C801-692F-D338-B4F350075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32DF7-8080-EE34-A83E-73135A5F1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9706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AF1D7-A6D5-40B8-8824-60E6BBAD2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2DC19-502C-19DB-E622-A545A647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CAF2B-BDF8-72C4-8F9D-B0496957F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A98AF-1D79-A6B0-0497-39201954B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66AE6-E2E5-4774-8434-34F2AD9BDDCE}" type="datetime1">
              <a:rPr lang="LID4096" smtClean="0"/>
              <a:t>06/23/2026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7578A-D2CE-562B-B989-7A69F4C63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916E7-788A-E49E-6DE8-14A3030F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29826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36504-E5EE-54C4-AE3A-30ED4173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762CFE-64BD-F4E1-68C3-4B0B8476A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19B84-962A-EE60-E472-B2D374CDA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64168-CB93-11C4-544E-0B50C348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E2CCE-BBFE-4BEC-9002-70F26B158681}" type="datetime1">
              <a:rPr lang="LID4096" smtClean="0"/>
              <a:t>06/23/2026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69202-8A06-0672-D078-63EC07001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8DC89-2294-2048-F46C-FCDE78466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6285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E5A5-8380-474E-9718-DD7F07E6E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302E5-27E2-6CFC-0B4D-DBC49A14C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5411E-6EB2-31BA-A950-D24D1E98C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A7740-B6F2-4CC5-9AD0-B161B943DB10}" type="datetime1">
              <a:rPr lang="LID4096" smtClean="0"/>
              <a:t>06/23/2026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D62B9-6717-ADE5-539C-1612B0F9F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9D565-4095-C862-96BC-DFBD2667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6415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14EFB7-D5E7-4262-8070-ADB45C08C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6F322-17F0-953A-FA92-92DF253EF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79FCB-D52F-974B-EE82-54AA1D31B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B025-8F26-4EDF-B991-413B82D6446E}" type="datetime1">
              <a:rPr lang="LID4096" smtClean="0"/>
              <a:t>06/23/2026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135FE-97EA-1624-7547-B5ADF59F8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F64BE-0E81-3731-6FFD-F28281E70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3357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23FA6B-4030-DE44-2291-F89E77FD7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04096-10C6-4F5D-CB62-BDE1AE79C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C22DB-A27F-EE11-EAEA-3A48DED31A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95C0FD-7BB7-48C9-86F3-9771767F1BC3}" type="datetime1">
              <a:rPr lang="LID4096" smtClean="0"/>
              <a:t>06/23/2026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D8504-FCB1-8947-3439-E301FE05D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93685-9ED8-B0C8-595B-0FD604216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4907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ast" TargetMode="External"/><Relationship Id="rId2" Type="http://schemas.openxmlformats.org/officeDocument/2006/relationships/hyperlink" Target="mailto:geertjan.bex@uhasselt.b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jbex.github.io/OpenMP-GPU-offloading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OpenMP GPU offloading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Geert Jan Bex</a:t>
            </a:r>
          </a:p>
          <a:p>
            <a:r>
              <a:rPr lang="en-US" dirty="0"/>
              <a:t>(</a:t>
            </a:r>
            <a:r>
              <a:rPr lang="en-US" dirty="0">
                <a:hlinkClick r:id="rId2"/>
              </a:rPr>
              <a:t>geertjan.bex@uhasselt.be</a:t>
            </a:r>
            <a:r>
              <a:rPr lang="en-US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26841" y="6009448"/>
            <a:ext cx="742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License</a:t>
            </a:r>
            <a:r>
              <a:rPr lang="en-US" dirty="0"/>
              <a:t>: this presentation is released under the Creative Commons CC BY 4.0,</a:t>
            </a:r>
            <a:br>
              <a:rPr lang="en-US" dirty="0"/>
            </a:br>
            <a:r>
              <a:rPr lang="en-US" dirty="0"/>
              <a:t>see </a:t>
            </a:r>
            <a:r>
              <a:rPr lang="en-US" dirty="0">
                <a:hlinkClick r:id="rId3"/>
              </a:rPr>
              <a:t>https://creativecommons.org/licenses/by/4.0/deed.ast</a:t>
            </a:r>
            <a:endParaRPr lang="nl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B74C2-95F1-B7A1-BE28-4F677A74F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</a:t>
            </a:fld>
            <a:endParaRPr lang="LID4096"/>
          </a:p>
        </p:txBody>
      </p:sp>
      <p:pic>
        <p:nvPicPr>
          <p:cNvPr id="9" name="Picture 8" descr="A black text on an orange background&#10;&#10;AI-generated content may be incorrect.">
            <a:extLst>
              <a:ext uri="{FF2B5EF4-FFF2-40B4-BE49-F238E27FC236}">
                <a16:creationId xmlns:a16="http://schemas.microsoft.com/office/drawing/2014/main" id="{7CCF5E5B-78F2-5787-8B30-ABBD2AC6FA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3" y="318938"/>
            <a:ext cx="4234543" cy="164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02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6350" y="5445224"/>
            <a:ext cx="109653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hlinkClick r:id="rId2"/>
              </a:rPr>
              <a:t>https://gjbex.github.io/OpenMP-GPU-offloading/</a:t>
            </a:r>
            <a:r>
              <a:rPr lang="en-US" sz="4000" dirty="0"/>
              <a:t>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EB7C24-B600-FB7B-FFFD-48860AC05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912" y="859155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110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Qr code&#10;&#10;Description automatically generated">
            <a:extLst>
              <a:ext uri="{FF2B5EF4-FFF2-40B4-BE49-F238E27FC236}">
                <a16:creationId xmlns:a16="http://schemas.microsoft.com/office/drawing/2014/main" id="{73A4FCC5-DC3D-4500-9780-EECF84D9A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70AEBC-58DC-06FC-AE67-813A2E7C9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8850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Typographical conventions I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Inline code fragments and file names are rendered as, e.g.,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hello_world.c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/>
              <a:t>Longer code fragments are rendered as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Data files are rendered as</a:t>
            </a:r>
            <a:endParaRPr lang="nl-BE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09D72-2E9D-49B0-8977-41DCCC66C0BB}" type="slidenum">
              <a:rPr kumimoji="0" lang="nl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B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5641" y="3137030"/>
            <a:ext cx="5285421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#include 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omp.h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#pragma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omp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parallel for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for (int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&lt; N;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++) {…}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55640" y="4841414"/>
            <a:ext cx="5285421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dim temp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1 1 -0.5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2 1 0.0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3 1 0.5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4 2 -0.5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845250" y="3484460"/>
            <a:ext cx="3603014" cy="2926615"/>
            <a:chOff x="1321249" y="3584213"/>
            <a:chExt cx="3603014" cy="2926615"/>
          </a:xfrm>
        </p:grpSpPr>
        <p:sp>
          <p:nvSpPr>
            <p:cNvPr id="7" name="Oval 6"/>
            <p:cNvSpPr/>
            <p:nvPr/>
          </p:nvSpPr>
          <p:spPr>
            <a:xfrm>
              <a:off x="1331639" y="6237312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" name="Straight Arrow Connector 8"/>
            <p:cNvCxnSpPr>
              <a:stCxn id="10" idx="1"/>
              <a:endCxn id="7" idx="6"/>
            </p:cNvCxnSpPr>
            <p:nvPr/>
          </p:nvCxnSpPr>
          <p:spPr>
            <a:xfrm flipH="1">
              <a:off x="1691680" y="5858572"/>
              <a:ext cx="2016224" cy="51549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3707904" y="5535406"/>
              <a:ext cx="1216359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fragment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not shown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321249" y="3584213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2" name="Straight Arrow Connector 11"/>
            <p:cNvCxnSpPr>
              <a:stCxn id="10" idx="1"/>
              <a:endCxn id="11" idx="6"/>
            </p:cNvCxnSpPr>
            <p:nvPr/>
          </p:nvCxnSpPr>
          <p:spPr>
            <a:xfrm flipH="1" flipV="1">
              <a:off x="1681290" y="3720971"/>
              <a:ext cx="2026614" cy="213760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428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Typographical conventions II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Shell commands are rendered as</a:t>
            </a:r>
          </a:p>
          <a:p>
            <a:endParaRPr lang="en-US" dirty="0"/>
          </a:p>
          <a:p>
            <a:pPr lvl="1"/>
            <a:r>
              <a:rPr lang="en-US" dirty="0"/>
              <a:t>Do </a:t>
            </a:r>
            <a:r>
              <a:rPr lang="en-US" i="1" dirty="0"/>
              <a:t>not</a:t>
            </a:r>
            <a:r>
              <a:rPr lang="en-US" dirty="0"/>
              <a:t> type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en-US" dirty="0"/>
              <a:t>, it represents your shell prompt!</a:t>
            </a:r>
          </a:p>
          <a:p>
            <a:endParaRPr lang="en-US" dirty="0"/>
          </a:p>
          <a:p>
            <a:r>
              <a:rPr lang="en-US" dirty="0"/>
              <a:t>Good practice:</a:t>
            </a:r>
          </a:p>
          <a:p>
            <a:r>
              <a:rPr lang="en-US" dirty="0"/>
              <a:t>Bad practice:</a:t>
            </a:r>
          </a:p>
          <a:p>
            <a:r>
              <a:rPr lang="en-US" dirty="0"/>
              <a:t>(Potential) hazards/bugs:</a:t>
            </a:r>
          </a:p>
          <a:p>
            <a:r>
              <a:rPr lang="en-US" dirty="0"/>
              <a:t>Performance issue:</a:t>
            </a:r>
          </a:p>
          <a:p>
            <a:r>
              <a:rPr lang="en-US" dirty="0"/>
              <a:t>Warning: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855641" y="2242581"/>
            <a:ext cx="321754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nvcc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hello_world.c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A05A-A776-4391-ACD7-D6BC34D3145C}" type="slidenum">
              <a:rPr lang="nl-BE" smtClean="0"/>
              <a:t>5</a:t>
            </a:fld>
            <a:endParaRPr lang="nl-BE"/>
          </a:p>
        </p:txBody>
      </p:sp>
      <p:pic>
        <p:nvPicPr>
          <p:cNvPr id="6" name="Picture 2" descr="C:\Users\lucg5005\AppData\Local\Microsoft\Windows\Temporary Internet Files\Content.IE5\CWZUAEH4\lgi01a201309290600[1].jpg">
            <a:extLst>
              <a:ext uri="{FF2B5EF4-FFF2-40B4-BE49-F238E27FC236}">
                <a16:creationId xmlns:a16="http://schemas.microsoft.com/office/drawing/2014/main" id="{F0B1C861-027C-AE93-1BCB-962F1DBAB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480" y="4393364"/>
            <a:ext cx="566151" cy="58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 descr="C:\Users\lucg5005\AppData\Local\Microsoft\Windows\Temporary Internet Files\Content.IE5\T8RCCH8G\cute_snail_by_gniyuhs-d4lvbji[1].png">
            <a:extLst>
              <a:ext uri="{FF2B5EF4-FFF2-40B4-BE49-F238E27FC236}">
                <a16:creationId xmlns:a16="http://schemas.microsoft.com/office/drawing/2014/main" id="{9955A620-341D-09A8-65FD-6BB630BAC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919" y="4775923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phic 8" descr="Warning with solid fill">
            <a:extLst>
              <a:ext uri="{FF2B5EF4-FFF2-40B4-BE49-F238E27FC236}">
                <a16:creationId xmlns:a16="http://schemas.microsoft.com/office/drawing/2014/main" id="{024A877E-0481-E081-DA6C-323BCC25DA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84005" y="5294549"/>
            <a:ext cx="648072" cy="648072"/>
          </a:xfrm>
          <a:prstGeom prst="rect">
            <a:avLst/>
          </a:prstGeom>
        </p:spPr>
      </p:pic>
      <p:pic>
        <p:nvPicPr>
          <p:cNvPr id="11" name="Graphic 10" descr="Thumbs up sign with solid fill">
            <a:extLst>
              <a:ext uri="{FF2B5EF4-FFF2-40B4-BE49-F238E27FC236}">
                <a16:creationId xmlns:a16="http://schemas.microsoft.com/office/drawing/2014/main" id="{CE1CDE01-821E-6748-0DC3-4FDB15D603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8218" y="3307140"/>
            <a:ext cx="724200" cy="724200"/>
          </a:xfrm>
          <a:prstGeom prst="rect">
            <a:avLst/>
          </a:prstGeom>
        </p:spPr>
      </p:pic>
      <p:pic>
        <p:nvPicPr>
          <p:cNvPr id="13" name="Graphic 12" descr="Thumbs Down with solid fill">
            <a:extLst>
              <a:ext uri="{FF2B5EF4-FFF2-40B4-BE49-F238E27FC236}">
                <a16:creationId xmlns:a16="http://schemas.microsoft.com/office/drawing/2014/main" id="{0BE55C85-E7E5-B333-4889-9C023DF918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8218" y="3959617"/>
            <a:ext cx="724201" cy="72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09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5A8B5-2883-BFCB-96BC-43A87F5F9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introduction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1DCDE-69A2-894E-802C-65B2534B0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DC159-2208-6601-9382-90192BBBF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71140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B55E3-1A02-E05C-CD44-A4979D379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E798D-B0F9-3B30-B69A-160FE045A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GPUs </a:t>
            </a:r>
            <a:r>
              <a:rPr lang="en-US" i="1" dirty="0"/>
              <a:t>can</a:t>
            </a:r>
            <a:r>
              <a:rPr lang="en-US" dirty="0"/>
              <a:t> offer significant speedup</a:t>
            </a:r>
          </a:p>
          <a:p>
            <a:endParaRPr lang="en-US" dirty="0"/>
          </a:p>
          <a:p>
            <a:r>
              <a:rPr lang="en-US" dirty="0"/>
              <a:t>But</a:t>
            </a:r>
            <a:r>
              <a:rPr lang="en-US" dirty="0">
                <a:sym typeface="Symbol" panose="05050102010706020507" pitchFamily="18" charset="2"/>
              </a:rPr>
              <a:t>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GPU programming is non-trivial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Not all algorithms map well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Code may not be portable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Various vendors: NVIDIA, AMD, Intel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0F419-4F59-2E41-7209-F756A32D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4364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41C48-1917-620F-5735-4BD408230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L'embarras</a:t>
            </a:r>
            <a:r>
              <a:rPr lang="en-US" dirty="0"/>
              <a:t> du choix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99202-5BDD-5422-5448-D50F0BF3A0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CUDA (NVIDIA only)</a:t>
            </a:r>
          </a:p>
          <a:p>
            <a:r>
              <a:rPr lang="en-US" dirty="0"/>
              <a:t>HIP (AMD only)</a:t>
            </a:r>
          </a:p>
          <a:p>
            <a:r>
              <a:rPr lang="en-US" dirty="0"/>
              <a:t>OpenCL</a:t>
            </a:r>
          </a:p>
          <a:p>
            <a:r>
              <a:rPr lang="en-US" dirty="0"/>
              <a:t>OpenMP</a:t>
            </a:r>
          </a:p>
          <a:p>
            <a:r>
              <a:rPr lang="en-US" dirty="0" err="1"/>
              <a:t>OpenACC</a:t>
            </a:r>
            <a:endParaRPr lang="en-US" dirty="0"/>
          </a:p>
          <a:p>
            <a:r>
              <a:rPr lang="en-US" dirty="0" err="1"/>
              <a:t>Kokkos</a:t>
            </a:r>
            <a:endParaRPr lang="en-US" dirty="0"/>
          </a:p>
          <a:p>
            <a:r>
              <a:rPr lang="en-US" dirty="0"/>
              <a:t>SYCL</a:t>
            </a:r>
          </a:p>
          <a:p>
            <a:r>
              <a:rPr lang="en-US" dirty="0">
                <a:sym typeface="Symbol" panose="05050102010706020507" pitchFamily="18" charset="2"/>
              </a:rPr>
              <a:t></a:t>
            </a: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596176-56C7-4C41-FFD0-1702DB0C36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OpenMP</a:t>
            </a:r>
          </a:p>
          <a:p>
            <a:pPr lvl="1"/>
            <a:r>
              <a:rPr lang="en-US" dirty="0"/>
              <a:t>Is vendor agnostic</a:t>
            </a:r>
          </a:p>
          <a:p>
            <a:pPr lvl="1"/>
            <a:r>
              <a:rPr lang="en-US" dirty="0"/>
              <a:t>Is relatively widely used</a:t>
            </a:r>
          </a:p>
          <a:p>
            <a:pPr lvl="1"/>
            <a:r>
              <a:rPr lang="en-US" dirty="0"/>
              <a:t>Is Standardized</a:t>
            </a:r>
          </a:p>
          <a:p>
            <a:pPr lvl="1"/>
            <a:r>
              <a:rPr lang="en-US" dirty="0"/>
              <a:t>Supports C, C++, Fortran</a:t>
            </a:r>
          </a:p>
          <a:p>
            <a:pPr lvl="1"/>
            <a:r>
              <a:rPr lang="en-US" dirty="0"/>
              <a:t>Good documentation</a:t>
            </a:r>
          </a:p>
          <a:p>
            <a:pPr lvl="1"/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874DE-FDA3-1024-E6E0-D6369B885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8</a:t>
            </a:fld>
            <a:endParaRPr lang="LID4096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6068792-7C78-E778-793D-84E13D9EBD78}"/>
              </a:ext>
            </a:extLst>
          </p:cNvPr>
          <p:cNvSpPr/>
          <p:nvPr/>
        </p:nvSpPr>
        <p:spPr>
          <a:xfrm>
            <a:off x="1066800" y="3364081"/>
            <a:ext cx="1524000" cy="441960"/>
          </a:xfrm>
          <a:prstGeom prst="roundRect">
            <a:avLst/>
          </a:prstGeom>
          <a:solidFill>
            <a:srgbClr val="FF0000">
              <a:alpha val="588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63087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E836E10-6D1B-4625-8100-86DC1AF0F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it?</a:t>
            </a:r>
            <a:endParaRPr lang="LID4096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8972AF-B549-171F-8395-5613E426E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Multi-Processing</a:t>
            </a:r>
          </a:p>
          <a:p>
            <a:r>
              <a:rPr lang="en-US" dirty="0"/>
              <a:t>OpenMP 1.0 for shared memory programming</a:t>
            </a:r>
          </a:p>
          <a:p>
            <a:r>
              <a:rPr lang="en-US" dirty="0"/>
              <a:t>OpenMP 4.0+ for GPU offloading</a:t>
            </a:r>
          </a:p>
          <a:p>
            <a:endParaRPr lang="en-US" dirty="0"/>
          </a:p>
          <a:p>
            <a:r>
              <a:rPr lang="en-US" dirty="0"/>
              <a:t>Annotate code with directives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#pragma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</a:t>
            </a:r>
            <a:r>
              <a:rPr lang="en-US" dirty="0">
                <a:sym typeface="Symbol" panose="05050102010706020507" pitchFamily="18" charset="2"/>
              </a:rPr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!$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omp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</a:t>
            </a:r>
            <a:br>
              <a:rPr lang="en-US" dirty="0"/>
            </a:br>
            <a:r>
              <a:rPr lang="en-US" dirty="0"/>
              <a:t>              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compiler generates parallel/GPU code</a:t>
            </a:r>
          </a:p>
          <a:p>
            <a:r>
              <a:rPr lang="en-US" dirty="0"/>
              <a:t>Runtime library</a:t>
            </a:r>
          </a:p>
          <a:p>
            <a:r>
              <a:rPr lang="en-US" dirty="0"/>
              <a:t>Environment variables</a:t>
            </a:r>
          </a:p>
          <a:p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7DA9D1-A0E1-F3F9-DB53-8DA82233F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19436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D681E-344A-692A-CF44-F31A0971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&amp; cons</a:t>
            </a:r>
            <a:endParaRPr lang="LID4096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9EA05A-EC69-1205-7302-522965855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dirty="0"/>
              <a:t>Pros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50774-37E0-0271-A7CE-8589C435F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47315"/>
            <a:ext cx="4484052" cy="3684588"/>
          </a:xfrm>
        </p:spPr>
        <p:txBody>
          <a:bodyPr/>
          <a:lstStyle/>
          <a:p>
            <a:r>
              <a:rPr lang="en-US" dirty="0"/>
              <a:t>Gradual path to parallel/GPU code</a:t>
            </a:r>
          </a:p>
          <a:p>
            <a:r>
              <a:rPr lang="en-US" dirty="0"/>
              <a:t>Implemented by GCC, Intel </a:t>
            </a:r>
            <a:r>
              <a:rPr lang="en-US" dirty="0" err="1"/>
              <a:t>OneAPI</a:t>
            </a:r>
            <a:r>
              <a:rPr lang="en-US" dirty="0"/>
              <a:t>, Clang, NVIDIA</a:t>
            </a:r>
          </a:p>
          <a:p>
            <a:r>
              <a:rPr lang="en-US" dirty="0"/>
              <a:t>Used in C, C++, Fortran</a:t>
            </a:r>
          </a:p>
          <a:p>
            <a:r>
              <a:rPr lang="en-US" dirty="0"/>
              <a:t>Conceptually fairly easy</a:t>
            </a:r>
            <a:endParaRPr lang="LID4096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7681E9-E678-AD87-F2E6-7D23BAA499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3200" dirty="0"/>
              <a:t>Cons</a:t>
            </a:r>
            <a:endParaRPr lang="LID4096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97C52E6-A082-A011-89A5-9A6CD06DAC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47315"/>
            <a:ext cx="5183188" cy="3684588"/>
          </a:xfrm>
        </p:spPr>
        <p:txBody>
          <a:bodyPr/>
          <a:lstStyle/>
          <a:p>
            <a:r>
              <a:rPr lang="en-US" dirty="0"/>
              <a:t>Efficient code: not easy</a:t>
            </a:r>
          </a:p>
          <a:p>
            <a:r>
              <a:rPr lang="en-US" dirty="0"/>
              <a:t>Latest standard(s) not fully implemented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DED2A-F790-61B1-3E45-D76EC5D98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587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61116E9-F3EC-E73D-C24E-A74311775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  <a:endParaRPr lang="LID4096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B28F1D-717D-8D24-222A-7EC939D04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knowledge of</a:t>
            </a:r>
          </a:p>
          <a:p>
            <a:pPr lvl="1"/>
            <a:r>
              <a:rPr lang="en-US" dirty="0"/>
              <a:t>C, C++ or Fortran</a:t>
            </a:r>
          </a:p>
          <a:p>
            <a:pPr lvl="2"/>
            <a:r>
              <a:rPr lang="en-US" dirty="0"/>
              <a:t>Pointers (C &amp; C++)</a:t>
            </a:r>
          </a:p>
          <a:p>
            <a:pPr lvl="2"/>
            <a:r>
              <a:rPr lang="en-US" dirty="0"/>
              <a:t>Allocatable memory (Fortran)</a:t>
            </a:r>
          </a:p>
          <a:p>
            <a:pPr lvl="1"/>
            <a:r>
              <a:rPr lang="en-US" dirty="0"/>
              <a:t>OpenMP shared memory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89BB0-0A8E-5BA7-B2EA-A5B09FD01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57209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B49A2-FB49-9653-2C07-A3A4309FA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GPU world from C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849F6-37E3-94AA-9520-EF46E213A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12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EE1B9B-7762-303B-BA1F-A6ED9639C885}"/>
              </a:ext>
            </a:extLst>
          </p:cNvPr>
          <p:cNvGrpSpPr/>
          <p:nvPr/>
        </p:nvGrpSpPr>
        <p:grpSpPr>
          <a:xfrm>
            <a:off x="688260" y="1997839"/>
            <a:ext cx="10661296" cy="3416320"/>
            <a:chOff x="1055914" y="2169659"/>
            <a:chExt cx="8802298" cy="34163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A907FF8-E13F-9E83-DC25-8970422001A0}"/>
                </a:ext>
              </a:extLst>
            </p:cNvPr>
            <p:cNvSpPr txBox="1"/>
            <p:nvPr/>
          </p:nvSpPr>
          <p:spPr>
            <a:xfrm>
              <a:off x="1055914" y="2169659"/>
              <a:ext cx="8795657" cy="3416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float *A = (float *) malloc(N*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sizeof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(float));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float *B = (float *) malloc(N*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sizeof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(float));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float *C = (float *) malloc(N*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sizeof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(float));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#pragma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omp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target teams loop  map(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to:A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[0:N], B[0:N])  map(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tofrom:C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[0:N])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for (int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0;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&lt; N;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++) {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for (int j = 0; j &lt; n;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j++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 {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C[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] += A[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]*B[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];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}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}</a:t>
              </a:r>
            </a:p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BC63E14-5512-A8E1-44B6-7D9CC698D5E8}"/>
                </a:ext>
              </a:extLst>
            </p:cNvPr>
            <p:cNvSpPr txBox="1"/>
            <p:nvPr/>
          </p:nvSpPr>
          <p:spPr>
            <a:xfrm>
              <a:off x="8075207" y="2169659"/>
              <a:ext cx="1783005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vector_product.c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9581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3D992-97E5-849A-49BA-3B60BFC37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7385E-2BBD-D29A-7E79-50D601FB8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GPU world from Fortran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CBCF3-BD4B-6A5F-50C4-BBE360864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13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85BF91-9D29-B493-1614-6470196F4C51}"/>
              </a:ext>
            </a:extLst>
          </p:cNvPr>
          <p:cNvGrpSpPr/>
          <p:nvPr/>
        </p:nvGrpSpPr>
        <p:grpSpPr>
          <a:xfrm>
            <a:off x="688260" y="1997839"/>
            <a:ext cx="10662359" cy="3693319"/>
            <a:chOff x="1055914" y="2169659"/>
            <a:chExt cx="8803172" cy="369331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7D6ED1F-4F3B-D835-CB9B-E4E9994AE44F}"/>
                </a:ext>
              </a:extLst>
            </p:cNvPr>
            <p:cNvSpPr txBox="1"/>
            <p:nvPr/>
          </p:nvSpPr>
          <p:spPr>
            <a:xfrm>
              <a:off x="1055914" y="2169659"/>
              <a:ext cx="8795657" cy="36933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real(kind=REAL32), dimension(:), allocatable ::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vecA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vecB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vecC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</a:p>
            <a:p>
              <a:pPr lvl="0">
                <a:defRPr/>
              </a:pPr>
              <a:r>
                <a:rPr lang="it-IT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allocate(vecA(m), vecB(m), vecC(m))</a:t>
              </a:r>
            </a:p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!$OMP target teams loop map(to: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vecA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(1:m),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vecB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(1:m)) map(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tofrom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: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vecC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(1:m))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do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1, size(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vecC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do j = 1, n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vecC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vecC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 +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vecA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)*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vecB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end do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end do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!$OMP end target teams loop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5315C5-342C-D8DE-88CD-158106D5496E}"/>
                </a:ext>
              </a:extLst>
            </p:cNvPr>
            <p:cNvSpPr txBox="1"/>
            <p:nvPr/>
          </p:nvSpPr>
          <p:spPr>
            <a:xfrm>
              <a:off x="7872264" y="2169659"/>
              <a:ext cx="1986822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vector_product.f90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5178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A8177-6C50-B5D2-B6DA-20FBEC5DC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OpenMP common core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9A97C-5A7B-3880-E2A2-68E600B84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5F1AA-BD6F-DEBC-47A9-DB30D979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5324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02EC4-17EA-C4C6-EA36-B31E784D7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directive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76E15-B6FD-9111-F61F-E8A93D3EB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CPU = initial device: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get_initial_device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/>
              <a:t>Number of GPUs: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get_num_devices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/>
              <a:t>Devices numbered from 0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get_num_devices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- 1</a:t>
            </a:r>
          </a:p>
          <a:p>
            <a:r>
              <a:rPr lang="en-US" dirty="0"/>
              <a:t>Default device</a:t>
            </a:r>
          </a:p>
          <a:p>
            <a:pPr lvl="1"/>
            <a:r>
              <a:rPr lang="en-US" dirty="0"/>
              <a:t>GPU 0 if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get_num_devices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</a:t>
            </a:r>
            <a:r>
              <a:rPr lang="en-US" dirty="0"/>
              <a:t> 1</a:t>
            </a:r>
          </a:p>
          <a:p>
            <a:pPr lvl="1"/>
            <a:r>
              <a:rPr lang="en-US" dirty="0"/>
              <a:t>CPU otherwise</a:t>
            </a:r>
          </a:p>
          <a:p>
            <a:r>
              <a:rPr lang="en-US" dirty="0"/>
              <a:t>Target device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#pragma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target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!#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target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91AFA-4736-9798-820E-8A1F760F5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15</a:t>
            </a:fld>
            <a:endParaRPr lang="LID4096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5EADC66-59C4-FDC2-2DA9-9785684E7484}"/>
              </a:ext>
            </a:extLst>
          </p:cNvPr>
          <p:cNvGrpSpPr/>
          <p:nvPr/>
        </p:nvGrpSpPr>
        <p:grpSpPr>
          <a:xfrm>
            <a:off x="7331186" y="3631962"/>
            <a:ext cx="3708217" cy="2370631"/>
            <a:chOff x="7331186" y="3631962"/>
            <a:chExt cx="3708217" cy="237063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2F3F591-1F17-C504-D671-F626D7972918}"/>
                </a:ext>
              </a:extLst>
            </p:cNvPr>
            <p:cNvSpPr txBox="1"/>
            <p:nvPr/>
          </p:nvSpPr>
          <p:spPr>
            <a:xfrm>
              <a:off x="8222328" y="3631962"/>
              <a:ext cx="6241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host</a:t>
              </a:r>
              <a:endParaRPr lang="LID4096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57AB36C-1E17-4E16-C53B-5BEC19F2DDF8}"/>
                </a:ext>
              </a:extLst>
            </p:cNvPr>
            <p:cNvSpPr txBox="1"/>
            <p:nvPr/>
          </p:nvSpPr>
          <p:spPr>
            <a:xfrm>
              <a:off x="10200968" y="3631962"/>
              <a:ext cx="8384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device</a:t>
              </a:r>
              <a:endParaRPr lang="LID4096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1F4BCEC-06EB-FC0B-9534-1AA596553127}"/>
                </a:ext>
              </a:extLst>
            </p:cNvPr>
            <p:cNvCxnSpPr>
              <a:cxnSpLocks/>
            </p:cNvCxnSpPr>
            <p:nvPr/>
          </p:nvCxnSpPr>
          <p:spPr>
            <a:xfrm>
              <a:off x="8534400" y="4050890"/>
              <a:ext cx="0" cy="471948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1A8F682-6CB4-2609-96CB-8B9CBBFC0A6E}"/>
                </a:ext>
              </a:extLst>
            </p:cNvPr>
            <p:cNvSpPr txBox="1"/>
            <p:nvPr/>
          </p:nvSpPr>
          <p:spPr>
            <a:xfrm>
              <a:off x="7331186" y="4532948"/>
              <a:ext cx="24064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#pragma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omp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target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1257058-2C68-B76B-C27E-596C2FDFFDD2}"/>
                </a:ext>
              </a:extLst>
            </p:cNvPr>
            <p:cNvCxnSpPr>
              <a:cxnSpLocks/>
            </p:cNvCxnSpPr>
            <p:nvPr/>
          </p:nvCxnSpPr>
          <p:spPr>
            <a:xfrm>
              <a:off x="10620185" y="4871502"/>
              <a:ext cx="0" cy="58540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9CC46C3-943F-BDE1-2ED4-DB9C9EE869CE}"/>
                </a:ext>
              </a:extLst>
            </p:cNvPr>
            <p:cNvCxnSpPr>
              <a:cxnSpLocks/>
            </p:cNvCxnSpPr>
            <p:nvPr/>
          </p:nvCxnSpPr>
          <p:spPr>
            <a:xfrm>
              <a:off x="8534400" y="5530645"/>
              <a:ext cx="0" cy="471948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9B4E0A7-5291-8D79-BEA1-C9A385B444B1}"/>
                </a:ext>
              </a:extLst>
            </p:cNvPr>
            <p:cNvCxnSpPr>
              <a:cxnSpLocks/>
            </p:cNvCxnSpPr>
            <p:nvPr/>
          </p:nvCxnSpPr>
          <p:spPr>
            <a:xfrm>
              <a:off x="9737613" y="4702225"/>
              <a:ext cx="733741" cy="169277"/>
            </a:xfrm>
            <a:prstGeom prst="straightConnector1">
              <a:avLst/>
            </a:prstGeom>
            <a:ln>
              <a:prstDash val="sysDas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F7459A7-4C4A-401E-1FB5-68C5FBC2E7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37613" y="5446006"/>
              <a:ext cx="733741" cy="169277"/>
            </a:xfrm>
            <a:prstGeom prst="straightConnector1">
              <a:avLst/>
            </a:prstGeom>
            <a:ln>
              <a:prstDash val="sysDas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5359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FD788-09FB-44BE-5718-DD8C9F4B1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directive clauses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CF3A9-BACD-D807-A9D3-19F463B53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map(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: control data movement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: only use device if true, initial device otherwise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device(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)</a:t>
            </a:r>
            <a:r>
              <a:rPr lang="en-US" dirty="0">
                <a:sym typeface="Symbol" panose="05050102010706020507" pitchFamily="18" charset="2"/>
              </a:rPr>
              <a:t>: select device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private()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firstprivate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()</a:t>
            </a:r>
          </a:p>
          <a:p>
            <a:r>
              <a:rPr lang="en-US" dirty="0">
                <a:cs typeface="Courier New" panose="02070309020205020404" pitchFamily="49" charset="0"/>
                <a:sym typeface="Symbol" panose="05050102010706020507" pitchFamily="18" charset="2"/>
              </a:rPr>
              <a:t>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AD312-CDAB-D796-1C92-086389E1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47998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E1B2-A004-5C2D-D777-82F911D0D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clause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DCE9A-372F-462A-413A-24E34D1C0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#pragma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omp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target map(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to:A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[0:N], B[0:N]) \             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map(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tofrom:C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[0:N])</a:t>
            </a:r>
            <a:endParaRPr lang="en-US" dirty="0"/>
          </a:p>
          <a:p>
            <a:endParaRPr lang="en-US" dirty="0"/>
          </a:p>
          <a:p>
            <a:r>
              <a:rPr lang="en-US" dirty="0"/>
              <a:t>Mapping types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en-US" dirty="0"/>
              <a:t>: copy to device at start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dirty="0"/>
              <a:t>: allocate on device at start, copy to host at end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tofrom</a:t>
            </a:r>
            <a:r>
              <a:rPr lang="en-US" dirty="0"/>
              <a:t>: copy to device at start, copy to host at end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alloc</a:t>
            </a:r>
            <a:r>
              <a:rPr lang="en-US" dirty="0"/>
              <a:t>: allocate on device at start, no copy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8E411-038A-275E-F084-7EC158347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72042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6E2C2-E2CE-1D2E-37F0-3B90AE6F6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map?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EF80A-474B-3ACD-D1F4-4AEC0BC51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Implicit transfers, no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en-US" dirty="0"/>
              <a:t> required</a:t>
            </a:r>
          </a:p>
          <a:p>
            <a:pPr lvl="1"/>
            <a:r>
              <a:rPr lang="en-US" dirty="0"/>
              <a:t>Scalar variables: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firstprivate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Arrays on stack: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tofrom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dirty="0"/>
              <a:t>/user-defined type: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tofrom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r>
              <a:rPr lang="en-US" dirty="0"/>
              <a:t>Explicit transfer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en-US" dirty="0"/>
              <a:t> clause</a:t>
            </a:r>
          </a:p>
          <a:p>
            <a:pPr lvl="1"/>
            <a:r>
              <a:rPr lang="en-US" dirty="0"/>
              <a:t>Scalar variables changed on device</a:t>
            </a:r>
          </a:p>
          <a:p>
            <a:pPr lvl="1"/>
            <a:r>
              <a:rPr lang="en-US" dirty="0"/>
              <a:t>Arrays on heap/free store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442A0-2E32-D591-D635-B3EF81CD1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18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F5EEE8-7968-161A-A06F-59C4236354B6}"/>
              </a:ext>
            </a:extLst>
          </p:cNvPr>
          <p:cNvSpPr txBox="1"/>
          <p:nvPr/>
        </p:nvSpPr>
        <p:spPr>
          <a:xfrm>
            <a:off x="7502996" y="2660937"/>
            <a:ext cx="320228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Make explicit with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endParaRPr lang="LID4096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3" descr="C:\Users\lucg5005\AppData\Local\Microsoft\Windows\Temporary Internet Files\Content.IE5\T8RCCH8G\cute_snail_by_gniyuhs-d4lvbji[1].png">
            <a:extLst>
              <a:ext uri="{FF2B5EF4-FFF2-40B4-BE49-F238E27FC236}">
                <a16:creationId xmlns:a16="http://schemas.microsoft.com/office/drawing/2014/main" id="{F6AFE792-D690-CDA1-708F-5AB71FF4C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558" y="2660937"/>
            <a:ext cx="435572" cy="435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626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86363-E3B5-71A2-3E51-BCCF17F37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section syntax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3CFA0-D47F-F656-95DC-305AEC872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497" y="1681163"/>
            <a:ext cx="5649503" cy="823912"/>
          </a:xfrm>
        </p:spPr>
        <p:txBody>
          <a:bodyPr>
            <a:normAutofit/>
          </a:bodyPr>
          <a:lstStyle/>
          <a:p>
            <a:r>
              <a:rPr lang="en-US" sz="3200" dirty="0"/>
              <a:t>C and C++</a:t>
            </a:r>
            <a:endParaRPr lang="LID4096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3467AF-1D4D-FA50-1278-2BCD19214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497" y="2505075"/>
            <a:ext cx="5649503" cy="368458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A[&lt;first&gt;:&lt;length&gt;:&lt;stride&gt;]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r>
              <a:rPr lang="en-US" dirty="0"/>
              <a:t>Example: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A[10]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A[:10]</a:t>
            </a:r>
            <a:r>
              <a:rPr lang="en-US" sz="2000" dirty="0"/>
              <a:t>: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A[0]</a:t>
            </a:r>
            <a:r>
              <a:rPr lang="en-US" sz="2000" dirty="0"/>
              <a:t>, </a:t>
            </a:r>
            <a:r>
              <a:rPr lang="en-US" sz="2000" dirty="0">
                <a:sym typeface="Symbol" panose="05050102010706020507" pitchFamily="18" charset="2"/>
              </a:rPr>
              <a:t>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A[9]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A[2:4]</a:t>
            </a:r>
            <a:r>
              <a:rPr lang="en-US" sz="2000" dirty="0"/>
              <a:t>: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A[2]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A[3]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A[4]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A[5]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A[1:4:2]</a:t>
            </a:r>
            <a:r>
              <a:rPr lang="en-US" sz="2000" dirty="0"/>
              <a:t>: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A[1]</a:t>
            </a:r>
            <a:r>
              <a:rPr lang="en-US" sz="2000" dirty="0">
                <a:cs typeface="Courier New" panose="02070309020205020404" pitchFamily="49" charset="0"/>
              </a:rPr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A[3]</a:t>
            </a:r>
            <a:r>
              <a:rPr lang="en-US" sz="2000" dirty="0">
                <a:cs typeface="Courier New" panose="02070309020205020404" pitchFamily="49" charset="0"/>
              </a:rPr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A[5]</a:t>
            </a:r>
            <a:r>
              <a:rPr lang="en-US" sz="2000" dirty="0">
                <a:cs typeface="Courier New" panose="02070309020205020404" pitchFamily="49" charset="0"/>
              </a:rPr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A[7]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Example: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A[10][5]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A[0:5][2:]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B6AD2E-CCDA-7352-C358-AC1023D22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3812" y="1681163"/>
            <a:ext cx="5183188" cy="823912"/>
          </a:xfrm>
        </p:spPr>
        <p:txBody>
          <a:bodyPr>
            <a:normAutofit/>
          </a:bodyPr>
          <a:lstStyle/>
          <a:p>
            <a:r>
              <a:rPr lang="en-US" sz="3200" dirty="0"/>
              <a:t>Fortran</a:t>
            </a:r>
            <a:endParaRPr lang="LID4096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93E819-8F6D-9C92-60A0-1765FC71E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3812" y="2505075"/>
            <a:ext cx="5183188" cy="368458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A(&lt;first&gt;:&lt;last&gt;:&lt;stride&gt;)</a:t>
            </a:r>
          </a:p>
          <a:p>
            <a:endParaRPr lang="en-US" dirty="0"/>
          </a:p>
          <a:p>
            <a:r>
              <a:rPr lang="en-US" dirty="0"/>
              <a:t>Example: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A(10)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A(:10)</a:t>
            </a:r>
            <a:r>
              <a:rPr lang="en-US" sz="2000" dirty="0"/>
              <a:t>: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A(1)</a:t>
            </a:r>
            <a:r>
              <a:rPr lang="en-US" sz="2000" dirty="0"/>
              <a:t>, </a:t>
            </a:r>
            <a:r>
              <a:rPr lang="en-US" sz="2000" dirty="0">
                <a:sym typeface="Symbol" panose="05050102010706020507" pitchFamily="18" charset="2"/>
              </a:rPr>
              <a:t>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A(10)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A(2:4)</a:t>
            </a:r>
            <a:r>
              <a:rPr lang="en-US" sz="2000" dirty="0"/>
              <a:t>: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A(2)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A(3)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A(4)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A(1:4:2)</a:t>
            </a:r>
            <a:r>
              <a:rPr lang="en-US" sz="2000" dirty="0"/>
              <a:t>: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A(1)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A(3)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Example: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A(10, 5)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A(1:5, 3:)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0313F-AAB5-C538-DB0F-406A2C1D3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8377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2CA4C-F0C4-A6E1-3EB0-76C4786F3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teams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BFE13-1B24-6A3F-3633-31FB9CA0F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Example</a:t>
            </a:r>
            <a:br>
              <a:rPr lang="en-US" dirty="0"/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#pragma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omp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teams</a:t>
            </a: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cs typeface="Courier New" pitchFamily="49" charset="0"/>
              </a:rPr>
              <a:t>Creates league of teams</a:t>
            </a:r>
          </a:p>
          <a:p>
            <a:r>
              <a:rPr lang="en-US" dirty="0">
                <a:solidFill>
                  <a:prstClr val="black"/>
                </a:solidFill>
                <a:cs typeface="Courier New" pitchFamily="49" charset="0"/>
              </a:rPr>
              <a:t>Each team has single initial thread</a:t>
            </a:r>
          </a:p>
          <a:p>
            <a:endParaRPr lang="en-US" dirty="0">
              <a:solidFill>
                <a:prstClr val="black"/>
              </a:solidFill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cs typeface="Courier New" pitchFamily="49" charset="0"/>
              </a:rPr>
              <a:t>Clauses</a:t>
            </a:r>
          </a:p>
          <a:p>
            <a:pPr lvl="1"/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private(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)</a:t>
            </a:r>
            <a:r>
              <a:rPr lang="en-US" dirty="0">
                <a:solidFill>
                  <a:prstClr val="black"/>
                </a:solidFill>
                <a:cs typeface="Courier New" pitchFamily="49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firstprivate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)</a:t>
            </a:r>
            <a:r>
              <a:rPr lang="en-US" dirty="0">
                <a:solidFill>
                  <a:prstClr val="black"/>
                </a:solidFill>
                <a:cs typeface="Courier New" pitchFamily="49" charset="0"/>
              </a:rPr>
              <a:t>, 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shared(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)</a:t>
            </a:r>
            <a:r>
              <a:rPr lang="en-US" dirty="0">
                <a:solidFill>
                  <a:prstClr val="black"/>
                </a:solidFill>
                <a:cs typeface="Courier New" pitchFamily="49" charset="0"/>
              </a:rPr>
              <a:t>, 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default(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)</a:t>
            </a:r>
            <a:r>
              <a:rPr lang="en-US" dirty="0">
                <a:solidFill>
                  <a:prstClr val="black"/>
                </a:solidFill>
                <a:cs typeface="Courier New" pitchFamily="49" charset="0"/>
              </a:rPr>
              <a:t>, 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reduction(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)</a:t>
            </a:r>
            <a:r>
              <a:rPr lang="en-US" dirty="0">
                <a:solidFill>
                  <a:prstClr val="black"/>
                </a:solidFill>
                <a:cs typeface="Courier New" pitchFamily="49" charset="0"/>
              </a:rPr>
              <a:t>, 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)</a:t>
            </a:r>
            <a:endParaRPr lang="en-US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num_teams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)</a:t>
            </a:r>
            <a:endParaRPr lang="en-US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thread_limit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)</a:t>
            </a:r>
          </a:p>
          <a:p>
            <a:pPr lvl="1"/>
            <a:r>
              <a:rPr lang="en-US" dirty="0">
                <a:solidFill>
                  <a:prstClr val="black"/>
                </a:solidFill>
                <a:cs typeface="Courier New" pitchFamily="49" charset="0"/>
                <a:sym typeface="Symbol" panose="05050102010706020507" pitchFamily="18" charset="2"/>
              </a:rPr>
              <a:t>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DE019-3110-99A0-75BE-DDBC7982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20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16A4D-AB6D-D775-C407-24586AE5BA23}"/>
              </a:ext>
            </a:extLst>
          </p:cNvPr>
          <p:cNvSpPr txBox="1"/>
          <p:nvPr/>
        </p:nvSpPr>
        <p:spPr>
          <a:xfrm>
            <a:off x="6782639" y="2340077"/>
            <a:ext cx="255114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NVIDIA reference: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league = grid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Team = block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83176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EA1D2-0790-257F-0FD2-2EB5B9143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Dividing work with loop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B18D6-2697-8230-0F13-A8008AD16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#pragma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loop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(int I = 0;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r>
              <a:rPr lang="en-US" dirty="0"/>
              <a:t>Distributes loop iterations over league/teams</a:t>
            </a:r>
          </a:p>
          <a:p>
            <a:endParaRPr lang="en-US" dirty="0"/>
          </a:p>
          <a:p>
            <a:r>
              <a:rPr lang="en-US" dirty="0"/>
              <a:t>Clauses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private(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)</a:t>
            </a:r>
            <a:r>
              <a:rPr lang="en-US" dirty="0">
                <a:solidFill>
                  <a:prstClr val="black"/>
                </a:solidFill>
                <a:cs typeface="Courier New" pitchFamily="49" charset="0"/>
                <a:sym typeface="Symbol" panose="05050102010706020507" pitchFamily="18" charset="2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lastprivate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( )</a:t>
            </a:r>
            <a:r>
              <a:rPr lang="en-US" dirty="0">
                <a:solidFill>
                  <a:prstClr val="black"/>
                </a:solidFill>
                <a:cs typeface="Courier New" pitchFamily="49" charset="0"/>
                <a:sym typeface="Symbol" panose="05050102010706020507" pitchFamily="18" charset="2"/>
              </a:rPr>
              <a:t>, 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reduction()</a:t>
            </a:r>
          </a:p>
          <a:p>
            <a:pPr lvl="1"/>
            <a:r>
              <a:rPr lang="en-US" dirty="0">
                <a:solidFill>
                  <a:prstClr val="black"/>
                </a:solidFill>
                <a:cs typeface="Courier New" pitchFamily="49" charset="0"/>
                <a:sym typeface="Symbol" panose="05050102010706020507" pitchFamily="18" charset="2"/>
              </a:rPr>
              <a:t>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6EBD9-6EC9-0357-227F-7CFA9ADF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15986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6EC7C-E219-1961-4220-922778CDE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movement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6AEDE-F116-6344-EE46-E88FE1A4E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22</a:t>
            </a:fld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3695B-8BB9-8DED-769C-BC75BE9FBCDE}"/>
              </a:ext>
            </a:extLst>
          </p:cNvPr>
          <p:cNvSpPr txBox="1"/>
          <p:nvPr/>
        </p:nvSpPr>
        <p:spPr>
          <a:xfrm>
            <a:off x="639099" y="1850355"/>
            <a:ext cx="6518786" cy="39703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#pragma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omp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target teams loop \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map(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tofrom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: A[:N])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) {A[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] = }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#pragma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omp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target teams loop \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map(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tofrom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: B[:N])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) {B[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] = }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#pragma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omp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target teams loop \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map(to: A[:N], B[:N])     \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map(from: C[:N])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) {C[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] = f(A[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], B[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])}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D649E60-F322-1CD5-F1F5-A0E0239F0B09}"/>
              </a:ext>
            </a:extLst>
          </p:cNvPr>
          <p:cNvGrpSpPr/>
          <p:nvPr/>
        </p:nvGrpSpPr>
        <p:grpSpPr>
          <a:xfrm>
            <a:off x="7675800" y="1325194"/>
            <a:ext cx="3737229" cy="4498698"/>
            <a:chOff x="7331671" y="1197375"/>
            <a:chExt cx="3737229" cy="449869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DDCBCC1-9732-C9B9-B906-528390AACAB4}"/>
                </a:ext>
              </a:extLst>
            </p:cNvPr>
            <p:cNvSpPr txBox="1"/>
            <p:nvPr/>
          </p:nvSpPr>
          <p:spPr>
            <a:xfrm>
              <a:off x="8222812" y="1197375"/>
              <a:ext cx="6241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host</a:t>
              </a:r>
              <a:endParaRPr lang="LID4096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EAB38D9-A7D2-EFEB-30E8-80E80382AF1F}"/>
                </a:ext>
              </a:extLst>
            </p:cNvPr>
            <p:cNvSpPr txBox="1"/>
            <p:nvPr/>
          </p:nvSpPr>
          <p:spPr>
            <a:xfrm>
              <a:off x="10230465" y="1197375"/>
              <a:ext cx="8384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device</a:t>
              </a:r>
              <a:endParaRPr lang="LID4096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1ED96A5-0BCE-CA8C-CB25-716571DD151A}"/>
                </a:ext>
              </a:extLst>
            </p:cNvPr>
            <p:cNvCxnSpPr>
              <a:cxnSpLocks/>
            </p:cNvCxnSpPr>
            <p:nvPr/>
          </p:nvCxnSpPr>
          <p:spPr>
            <a:xfrm>
              <a:off x="8534884" y="1730477"/>
              <a:ext cx="0" cy="471948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ADD8B78-4092-B089-5B0B-16BC86CB5C99}"/>
                </a:ext>
              </a:extLst>
            </p:cNvPr>
            <p:cNvCxnSpPr>
              <a:cxnSpLocks/>
            </p:cNvCxnSpPr>
            <p:nvPr/>
          </p:nvCxnSpPr>
          <p:spPr>
            <a:xfrm>
              <a:off x="8534884" y="5224125"/>
              <a:ext cx="0" cy="471948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03D7F79-D247-160C-2E54-67DEF7ED7EEC}"/>
                </a:ext>
              </a:extLst>
            </p:cNvPr>
            <p:cNvGrpSpPr/>
            <p:nvPr/>
          </p:nvGrpSpPr>
          <p:grpSpPr>
            <a:xfrm>
              <a:off x="7331671" y="2212535"/>
              <a:ext cx="3288999" cy="1082335"/>
              <a:chOff x="7360683" y="2212535"/>
              <a:chExt cx="3288999" cy="1082335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704A03-DBCC-DB90-AC5E-1B93DD33F827}"/>
                  </a:ext>
                </a:extLst>
              </p:cNvPr>
              <p:cNvSpPr txBox="1"/>
              <p:nvPr/>
            </p:nvSpPr>
            <p:spPr>
              <a:xfrm>
                <a:off x="7360683" y="2212535"/>
                <a:ext cx="24064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#pragma </a:t>
                </a:r>
                <a:r>
                  <a:rPr lang="en-US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omp</a:t>
                </a:r>
                <a:r>
                  <a:rPr lang="en-US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target</a:t>
                </a:r>
                <a:endParaRPr lang="LID4096" sz="16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6891C32-6A70-3213-24A8-77BAF08D5C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49682" y="2551089"/>
                <a:ext cx="0" cy="585401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0916AE82-B91E-D630-BA93-245C5404B0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7110" y="2381812"/>
                <a:ext cx="733741" cy="169277"/>
              </a:xfrm>
              <a:prstGeom prst="straightConnector1">
                <a:avLst/>
              </a:prstGeom>
              <a:ln>
                <a:prstDash val="sysDash"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17B7893F-9777-A844-5D09-8EDE636329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67110" y="3125593"/>
                <a:ext cx="733741" cy="169277"/>
              </a:xfrm>
              <a:prstGeom prst="straightConnector1">
                <a:avLst/>
              </a:prstGeom>
              <a:ln>
                <a:prstDash val="sysDash"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E78AD79-9F4D-F044-115C-71441033CBFD}"/>
                  </a:ext>
                </a:extLst>
              </p:cNvPr>
              <p:cNvSpPr txBox="1"/>
              <p:nvPr/>
            </p:nvSpPr>
            <p:spPr>
              <a:xfrm>
                <a:off x="9862290" y="2405013"/>
                <a:ext cx="3209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LID4096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EA1C55-4A24-EF6C-1563-7098E52362DA}"/>
                  </a:ext>
                </a:extLst>
              </p:cNvPr>
              <p:cNvSpPr txBox="1"/>
              <p:nvPr/>
            </p:nvSpPr>
            <p:spPr>
              <a:xfrm>
                <a:off x="10281534" y="2820173"/>
                <a:ext cx="3209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LID4096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AFD1F50-D5A6-B5F1-31C8-E0175A4F9894}"/>
                </a:ext>
              </a:extLst>
            </p:cNvPr>
            <p:cNvGrpSpPr/>
            <p:nvPr/>
          </p:nvGrpSpPr>
          <p:grpSpPr>
            <a:xfrm>
              <a:off x="7331671" y="3169826"/>
              <a:ext cx="3288999" cy="1082335"/>
              <a:chOff x="7360683" y="2212535"/>
              <a:chExt cx="3288999" cy="1082335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126912A-8123-A851-9F43-0A369E116F19}"/>
                  </a:ext>
                </a:extLst>
              </p:cNvPr>
              <p:cNvSpPr txBox="1"/>
              <p:nvPr/>
            </p:nvSpPr>
            <p:spPr>
              <a:xfrm>
                <a:off x="7360683" y="2212535"/>
                <a:ext cx="24064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#pragma </a:t>
                </a:r>
                <a:r>
                  <a:rPr lang="en-US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omp</a:t>
                </a:r>
                <a:r>
                  <a:rPr lang="en-US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target</a:t>
                </a:r>
                <a:endParaRPr lang="LID4096" sz="16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2082114-69A9-83EC-F162-ED7034B3A0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49682" y="2551089"/>
                <a:ext cx="0" cy="585401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9237809C-C93D-EF3C-5A7F-38A609C148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7110" y="2381812"/>
                <a:ext cx="733741" cy="169277"/>
              </a:xfrm>
              <a:prstGeom prst="straightConnector1">
                <a:avLst/>
              </a:prstGeom>
              <a:ln>
                <a:prstDash val="sysDash"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4ABB4A8D-5EB9-2517-E37B-3BDA4F6C72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67110" y="3125593"/>
                <a:ext cx="733741" cy="169277"/>
              </a:xfrm>
              <a:prstGeom prst="straightConnector1">
                <a:avLst/>
              </a:prstGeom>
              <a:ln>
                <a:prstDash val="sysDash"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CC0E40B-014A-EF29-1B28-57D06BDCBEA8}"/>
                  </a:ext>
                </a:extLst>
              </p:cNvPr>
              <p:cNvSpPr txBox="1"/>
              <p:nvPr/>
            </p:nvSpPr>
            <p:spPr>
              <a:xfrm>
                <a:off x="9862290" y="2405013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B</a:t>
                </a:r>
                <a:endParaRPr lang="LID4096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80AB922-E0C9-93E1-4C5B-8FFFEA4F4051}"/>
                  </a:ext>
                </a:extLst>
              </p:cNvPr>
              <p:cNvSpPr txBox="1"/>
              <p:nvPr/>
            </p:nvSpPr>
            <p:spPr>
              <a:xfrm>
                <a:off x="10281534" y="2820173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B</a:t>
                </a:r>
                <a:endParaRPr lang="LID4096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E56CA57-C25A-E407-CCEB-7BEF6A4B7937}"/>
                </a:ext>
              </a:extLst>
            </p:cNvPr>
            <p:cNvGrpSpPr/>
            <p:nvPr/>
          </p:nvGrpSpPr>
          <p:grpSpPr>
            <a:xfrm>
              <a:off x="7331671" y="4205253"/>
              <a:ext cx="3288999" cy="1082335"/>
              <a:chOff x="7360683" y="2212535"/>
              <a:chExt cx="3288999" cy="108233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56C28A-4DFA-BE01-369C-277BF03F0614}"/>
                  </a:ext>
                </a:extLst>
              </p:cNvPr>
              <p:cNvSpPr txBox="1"/>
              <p:nvPr/>
            </p:nvSpPr>
            <p:spPr>
              <a:xfrm>
                <a:off x="7360683" y="2212535"/>
                <a:ext cx="24064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#pragma </a:t>
                </a:r>
                <a:r>
                  <a:rPr lang="en-US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omp</a:t>
                </a:r>
                <a:r>
                  <a:rPr lang="en-US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target</a:t>
                </a:r>
                <a:endParaRPr lang="LID4096" sz="16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24351C3-07F3-864C-2BFB-38DA9AE9E2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49682" y="2551089"/>
                <a:ext cx="0" cy="585401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6BE576D0-D1D4-FFA7-F7AB-78EA3DAD30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7110" y="2381812"/>
                <a:ext cx="733741" cy="169277"/>
              </a:xfrm>
              <a:prstGeom prst="straightConnector1">
                <a:avLst/>
              </a:prstGeom>
              <a:ln>
                <a:prstDash val="sysDash"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0AE42EB-0546-F24E-E1D3-0BF9CF65C6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67110" y="3125593"/>
                <a:ext cx="733741" cy="169277"/>
              </a:xfrm>
              <a:prstGeom prst="straightConnector1">
                <a:avLst/>
              </a:prstGeom>
              <a:ln>
                <a:prstDash val="sysDash"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400C43B-A11E-8886-E540-1516B5D62252}"/>
                  </a:ext>
                </a:extLst>
              </p:cNvPr>
              <p:cNvSpPr txBox="1"/>
              <p:nvPr/>
            </p:nvSpPr>
            <p:spPr>
              <a:xfrm>
                <a:off x="9645979" y="2405013"/>
                <a:ext cx="598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 B</a:t>
                </a:r>
                <a:endParaRPr lang="LID4096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86FAA5C-0587-3B5B-6A41-1B673C12E6C1}"/>
                  </a:ext>
                </a:extLst>
              </p:cNvPr>
              <p:cNvSpPr txBox="1"/>
              <p:nvPr/>
            </p:nvSpPr>
            <p:spPr>
              <a:xfrm>
                <a:off x="10281534" y="2820173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LID4096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E8C98A7-18D9-83AA-3105-5D2135DB33E7}"/>
              </a:ext>
            </a:extLst>
          </p:cNvPr>
          <p:cNvGrpSpPr/>
          <p:nvPr/>
        </p:nvGrpSpPr>
        <p:grpSpPr>
          <a:xfrm>
            <a:off x="4385187" y="5485214"/>
            <a:ext cx="3999870" cy="1053698"/>
            <a:chOff x="2231923" y="5476605"/>
            <a:chExt cx="3999870" cy="1053698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3684EA3-B79F-EE76-498D-927F3E2562B5}"/>
                </a:ext>
              </a:extLst>
            </p:cNvPr>
            <p:cNvSpPr txBox="1"/>
            <p:nvPr/>
          </p:nvSpPr>
          <p:spPr>
            <a:xfrm>
              <a:off x="2231923" y="6007083"/>
              <a:ext cx="3794308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Many data movements!</a:t>
              </a:r>
              <a:endParaRPr lang="LID4096" sz="2800" dirty="0"/>
            </a:p>
          </p:txBody>
        </p:sp>
        <p:pic>
          <p:nvPicPr>
            <p:cNvPr id="47" name="Picture 3" descr="C:\Users\lucg5005\AppData\Local\Microsoft\Windows\Temporary Internet Files\Content.IE5\T8RCCH8G\cute_snail_by_gniyuhs-d4lvbji[1].png">
              <a:extLst>
                <a:ext uri="{FF2B5EF4-FFF2-40B4-BE49-F238E27FC236}">
                  <a16:creationId xmlns:a16="http://schemas.microsoft.com/office/drawing/2014/main" id="{6C5CDACF-2F36-9627-D61E-83A16A93BF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9705" y="5476605"/>
              <a:ext cx="792088" cy="792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96583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8DC97-BD04-00B5-D7DF-FA3B0995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data directive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0EDDF1-CD0D-088D-991E-F7179843E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23</a:t>
            </a:fld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A5E828-155D-B52C-8990-DA42456A14DE}"/>
              </a:ext>
            </a:extLst>
          </p:cNvPr>
          <p:cNvSpPr txBox="1"/>
          <p:nvPr/>
        </p:nvSpPr>
        <p:spPr>
          <a:xfrm>
            <a:off x="639099" y="1348908"/>
            <a:ext cx="6518786" cy="480131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#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pragma target data \</a:t>
            </a:r>
            <a:b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    map(to: A[:N], B[:N]) \</a:t>
            </a:r>
          </a:p>
          <a:p>
            <a:pPr lvl="0">
              <a:defRPr/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    map(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tofrom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: C[:N])</a:t>
            </a:r>
          </a:p>
          <a:p>
            <a:pPr lvl="0">
              <a:defRPr/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{</a:t>
            </a:r>
            <a:endParaRPr lang="en-US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#pragma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omp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target teams loop \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map(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present,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tofrom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: A[:N])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for (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) {A[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] = }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    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#pragma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omp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target teams loop \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map(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present,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tofrom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: B[:N])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for (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) {B[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] = }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    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#pragma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omp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target teams loop      \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map(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present,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to: A[:N], B[:N]) \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map(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present,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from: C[:N])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for (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) {C[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] = f(A[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], B[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])}</a:t>
            </a:r>
          </a:p>
          <a:p>
            <a:pPr>
              <a:defRPr/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}</a:t>
            </a:r>
            <a:endParaRPr lang="en-US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93E7E-19E2-B639-5E9D-28AA62B10F7B}"/>
              </a:ext>
            </a:extLst>
          </p:cNvPr>
          <p:cNvSpPr txBox="1"/>
          <p:nvPr/>
        </p:nvSpPr>
        <p:spPr>
          <a:xfrm>
            <a:off x="8566941" y="233812"/>
            <a:ext cx="624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</a:t>
            </a:r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CCEA32-E791-781C-B7D9-9CF28DB8A28C}"/>
              </a:ext>
            </a:extLst>
          </p:cNvPr>
          <p:cNvSpPr txBox="1"/>
          <p:nvPr/>
        </p:nvSpPr>
        <p:spPr>
          <a:xfrm>
            <a:off x="10574594" y="233812"/>
            <a:ext cx="838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</a:t>
            </a:r>
            <a:endParaRPr lang="LID4096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F97E0B-4822-0EB5-654E-8B3CD7BF989A}"/>
              </a:ext>
            </a:extLst>
          </p:cNvPr>
          <p:cNvCxnSpPr>
            <a:cxnSpLocks/>
          </p:cNvCxnSpPr>
          <p:nvPr/>
        </p:nvCxnSpPr>
        <p:spPr>
          <a:xfrm>
            <a:off x="8879013" y="766914"/>
            <a:ext cx="0" cy="471948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F2330F-2763-3FB0-2285-B3FBDDACE112}"/>
              </a:ext>
            </a:extLst>
          </p:cNvPr>
          <p:cNvCxnSpPr>
            <a:cxnSpLocks/>
          </p:cNvCxnSpPr>
          <p:nvPr/>
        </p:nvCxnSpPr>
        <p:spPr>
          <a:xfrm>
            <a:off x="8879013" y="6089364"/>
            <a:ext cx="0" cy="471948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1AE678A-F7EA-8DC5-1A7D-0724FF8A31F9}"/>
              </a:ext>
            </a:extLst>
          </p:cNvPr>
          <p:cNvGrpSpPr/>
          <p:nvPr/>
        </p:nvGrpSpPr>
        <p:grpSpPr>
          <a:xfrm>
            <a:off x="7675800" y="1259156"/>
            <a:ext cx="3140168" cy="768287"/>
            <a:chOff x="7828200" y="1259156"/>
            <a:chExt cx="3140168" cy="76828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EADD79C-04B9-210D-2BE5-96D13A0A1749}"/>
                </a:ext>
              </a:extLst>
            </p:cNvPr>
            <p:cNvSpPr txBox="1"/>
            <p:nvPr/>
          </p:nvSpPr>
          <p:spPr>
            <a:xfrm>
              <a:off x="7828200" y="1259156"/>
              <a:ext cx="30235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#pragma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omp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target data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783B13B-1F82-6D99-73EE-AC87C66F5984}"/>
                </a:ext>
              </a:extLst>
            </p:cNvPr>
            <p:cNvCxnSpPr>
              <a:cxnSpLocks/>
            </p:cNvCxnSpPr>
            <p:nvPr/>
          </p:nvCxnSpPr>
          <p:spPr>
            <a:xfrm>
              <a:off x="10234627" y="1644742"/>
              <a:ext cx="733741" cy="169277"/>
            </a:xfrm>
            <a:prstGeom prst="straightConnector1">
              <a:avLst/>
            </a:prstGeom>
            <a:ln>
              <a:prstDash val="sysDas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A787972-0D19-0F07-B199-7512968B6EA1}"/>
                </a:ext>
              </a:extLst>
            </p:cNvPr>
            <p:cNvSpPr txBox="1"/>
            <p:nvPr/>
          </p:nvSpPr>
          <p:spPr>
            <a:xfrm>
              <a:off x="10015175" y="1658111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A B</a:t>
              </a:r>
              <a:endParaRPr lang="LID4096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A4E5DD-9597-61CF-F5E7-17B7941E9A51}"/>
              </a:ext>
            </a:extLst>
          </p:cNvPr>
          <p:cNvGrpSpPr/>
          <p:nvPr/>
        </p:nvGrpSpPr>
        <p:grpSpPr>
          <a:xfrm>
            <a:off x="7675800" y="3395969"/>
            <a:ext cx="3288999" cy="1082335"/>
            <a:chOff x="7360683" y="2212535"/>
            <a:chExt cx="3288999" cy="108233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D73E8EF-72FC-EAC5-11B4-737658DC1E48}"/>
                </a:ext>
              </a:extLst>
            </p:cNvPr>
            <p:cNvSpPr txBox="1"/>
            <p:nvPr/>
          </p:nvSpPr>
          <p:spPr>
            <a:xfrm>
              <a:off x="7360683" y="2212535"/>
              <a:ext cx="24064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#pragma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omp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target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C9CC0E7-DCD2-611A-EE36-FF65A9020B29}"/>
                </a:ext>
              </a:extLst>
            </p:cNvPr>
            <p:cNvCxnSpPr>
              <a:cxnSpLocks/>
            </p:cNvCxnSpPr>
            <p:nvPr/>
          </p:nvCxnSpPr>
          <p:spPr>
            <a:xfrm>
              <a:off x="10649682" y="2551089"/>
              <a:ext cx="0" cy="58540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FCD16A0-97CC-F0E1-E259-F8ABE4FEAE67}"/>
                </a:ext>
              </a:extLst>
            </p:cNvPr>
            <p:cNvCxnSpPr>
              <a:cxnSpLocks/>
            </p:cNvCxnSpPr>
            <p:nvPr/>
          </p:nvCxnSpPr>
          <p:spPr>
            <a:xfrm>
              <a:off x="9767110" y="2381812"/>
              <a:ext cx="733741" cy="169277"/>
            </a:xfrm>
            <a:prstGeom prst="straightConnector1">
              <a:avLst/>
            </a:prstGeom>
            <a:ln>
              <a:prstDash val="sysDas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4BEB692-C8F6-B57A-92E5-87825198E9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67110" y="3125593"/>
              <a:ext cx="733741" cy="169277"/>
            </a:xfrm>
            <a:prstGeom prst="straightConnector1">
              <a:avLst/>
            </a:prstGeom>
            <a:ln>
              <a:prstDash val="sysDas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A33B8BF-E0E2-EB4C-7E25-164FB27DEB30}"/>
              </a:ext>
            </a:extLst>
          </p:cNvPr>
          <p:cNvGrpSpPr/>
          <p:nvPr/>
        </p:nvGrpSpPr>
        <p:grpSpPr>
          <a:xfrm>
            <a:off x="7675800" y="4333072"/>
            <a:ext cx="3288999" cy="1082335"/>
            <a:chOff x="7360683" y="2212535"/>
            <a:chExt cx="3288999" cy="108233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D19D957-BB04-79BA-2D30-BF2F93B10932}"/>
                </a:ext>
              </a:extLst>
            </p:cNvPr>
            <p:cNvSpPr txBox="1"/>
            <p:nvPr/>
          </p:nvSpPr>
          <p:spPr>
            <a:xfrm>
              <a:off x="7360683" y="2212535"/>
              <a:ext cx="24064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#pragma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omp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target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7DCB40D-91A2-3F8C-8B26-5ECADA860327}"/>
                </a:ext>
              </a:extLst>
            </p:cNvPr>
            <p:cNvCxnSpPr>
              <a:cxnSpLocks/>
            </p:cNvCxnSpPr>
            <p:nvPr/>
          </p:nvCxnSpPr>
          <p:spPr>
            <a:xfrm>
              <a:off x="10649682" y="2551089"/>
              <a:ext cx="0" cy="58540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AEA7833-9E88-8B77-9F8C-CEF6D21EBEF7}"/>
                </a:ext>
              </a:extLst>
            </p:cNvPr>
            <p:cNvCxnSpPr>
              <a:cxnSpLocks/>
            </p:cNvCxnSpPr>
            <p:nvPr/>
          </p:nvCxnSpPr>
          <p:spPr>
            <a:xfrm>
              <a:off x="9767110" y="2381812"/>
              <a:ext cx="733741" cy="169277"/>
            </a:xfrm>
            <a:prstGeom prst="straightConnector1">
              <a:avLst/>
            </a:prstGeom>
            <a:ln>
              <a:prstDash val="sysDas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B720496-7A45-D754-68D8-EE1B7EE88F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67110" y="3125593"/>
              <a:ext cx="733741" cy="169277"/>
            </a:xfrm>
            <a:prstGeom prst="straightConnector1">
              <a:avLst/>
            </a:prstGeom>
            <a:ln>
              <a:prstDash val="sysDas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EA84AA5-8572-1E89-41F8-74FB0DE35383}"/>
              </a:ext>
            </a:extLst>
          </p:cNvPr>
          <p:cNvGrpSpPr/>
          <p:nvPr/>
        </p:nvGrpSpPr>
        <p:grpSpPr>
          <a:xfrm>
            <a:off x="7675800" y="2492754"/>
            <a:ext cx="3288999" cy="1082335"/>
            <a:chOff x="7360683" y="2212535"/>
            <a:chExt cx="3288999" cy="108233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4BD9B37-D2B6-9B56-C9C6-1BBB135A1DEC}"/>
                </a:ext>
              </a:extLst>
            </p:cNvPr>
            <p:cNvSpPr txBox="1"/>
            <p:nvPr/>
          </p:nvSpPr>
          <p:spPr>
            <a:xfrm>
              <a:off x="7360683" y="2212535"/>
              <a:ext cx="24064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#pragma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omp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target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D0C6D48-82D1-FECA-EDAA-F320D747152A}"/>
                </a:ext>
              </a:extLst>
            </p:cNvPr>
            <p:cNvCxnSpPr>
              <a:cxnSpLocks/>
            </p:cNvCxnSpPr>
            <p:nvPr/>
          </p:nvCxnSpPr>
          <p:spPr>
            <a:xfrm>
              <a:off x="10649682" y="2551089"/>
              <a:ext cx="0" cy="58540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6770F0B6-4DC8-370C-8793-E3BCE6E7DC3E}"/>
                </a:ext>
              </a:extLst>
            </p:cNvPr>
            <p:cNvCxnSpPr>
              <a:cxnSpLocks/>
            </p:cNvCxnSpPr>
            <p:nvPr/>
          </p:nvCxnSpPr>
          <p:spPr>
            <a:xfrm>
              <a:off x="9767110" y="2381812"/>
              <a:ext cx="733741" cy="169277"/>
            </a:xfrm>
            <a:prstGeom prst="straightConnector1">
              <a:avLst/>
            </a:prstGeom>
            <a:ln>
              <a:prstDash val="sysDas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FF0343E-2FA2-9660-CF94-245A7024D9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67110" y="3125593"/>
              <a:ext cx="733741" cy="169277"/>
            </a:xfrm>
            <a:prstGeom prst="straightConnector1">
              <a:avLst/>
            </a:prstGeom>
            <a:ln>
              <a:prstDash val="sysDas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1D23176-D817-ED58-40B5-9155BEE388FE}"/>
              </a:ext>
            </a:extLst>
          </p:cNvPr>
          <p:cNvGrpSpPr/>
          <p:nvPr/>
        </p:nvGrpSpPr>
        <p:grpSpPr>
          <a:xfrm>
            <a:off x="7675800" y="5363356"/>
            <a:ext cx="3243375" cy="669380"/>
            <a:chOff x="7675800" y="5363356"/>
            <a:chExt cx="3243375" cy="669380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F5C635F-1DCA-E964-94B6-B37CD70A959B}"/>
                </a:ext>
              </a:extLst>
            </p:cNvPr>
            <p:cNvSpPr txBox="1"/>
            <p:nvPr/>
          </p:nvSpPr>
          <p:spPr>
            <a:xfrm>
              <a:off x="7675800" y="5363356"/>
              <a:ext cx="24064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#pragma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omp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target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D8A510CC-4E1B-5164-DC4A-B1C59DCB9F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82227" y="5863459"/>
              <a:ext cx="733741" cy="169277"/>
            </a:xfrm>
            <a:prstGeom prst="straightConnector1">
              <a:avLst/>
            </a:prstGeom>
            <a:ln>
              <a:prstDash val="sysDas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9B2CE8B-CE5F-EFFD-22BE-16D02D7DC043}"/>
                </a:ext>
              </a:extLst>
            </p:cNvPr>
            <p:cNvSpPr txBox="1"/>
            <p:nvPr/>
          </p:nvSpPr>
          <p:spPr>
            <a:xfrm>
              <a:off x="10596651" y="5558039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LID4096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A3E807A-0907-7246-DB6F-CC29B65F0BC5}"/>
              </a:ext>
            </a:extLst>
          </p:cNvPr>
          <p:cNvGrpSpPr/>
          <p:nvPr/>
        </p:nvGrpSpPr>
        <p:grpSpPr>
          <a:xfrm>
            <a:off x="3578939" y="5738179"/>
            <a:ext cx="4587513" cy="1026874"/>
            <a:chOff x="4385187" y="5738179"/>
            <a:chExt cx="4587513" cy="102687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0A7897C-02DC-9F8E-52F7-4DF05C9A4F4C}"/>
                </a:ext>
              </a:extLst>
            </p:cNvPr>
            <p:cNvSpPr txBox="1"/>
            <p:nvPr/>
          </p:nvSpPr>
          <p:spPr>
            <a:xfrm>
              <a:off x="4385187" y="6241833"/>
              <a:ext cx="4345228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Minimize data movements!</a:t>
              </a:r>
              <a:endParaRPr lang="LID4096" sz="2800" dirty="0"/>
            </a:p>
          </p:txBody>
        </p:sp>
        <p:pic>
          <p:nvPicPr>
            <p:cNvPr id="51" name="Graphic 50" descr="Thumbs up sign with solid fill">
              <a:extLst>
                <a:ext uri="{FF2B5EF4-FFF2-40B4-BE49-F238E27FC236}">
                  <a16:creationId xmlns:a16="http://schemas.microsoft.com/office/drawing/2014/main" id="{1E26BC11-6857-359B-4246-563BE5552A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248500" y="5738179"/>
              <a:ext cx="724200" cy="724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2217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94554-96DD-0FE1-D0E5-0182F15B6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05E0D-A6F6-5DE3-A9F9-0B176040A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release, delete map types</a:t>
            </a:r>
          </a:p>
          <a:p>
            <a:r>
              <a:rPr lang="en-US" dirty="0"/>
              <a:t>present, always, close map type  modifiers</a:t>
            </a:r>
          </a:p>
          <a:p>
            <a:r>
              <a:rPr lang="en-US" dirty="0"/>
              <a:t>depend/</a:t>
            </a:r>
            <a:r>
              <a:rPr lang="en-US" dirty="0" err="1"/>
              <a:t>nowait</a:t>
            </a:r>
            <a:r>
              <a:rPr lang="en-US" dirty="0"/>
              <a:t> clause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is_device_ptr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(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: is allocated on device with </a:t>
            </a:r>
            <a:r>
              <a:rPr lang="" dirty="0">
                <a:latin typeface="Courier New" panose="02070309020205020404" pitchFamily="49" charset="0"/>
                <a:cs typeface="Courier New" panose="02070309020205020404" pitchFamily="49" charset="0"/>
              </a:rPr>
              <a:t>omp_target_alloc(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0C0B7-8747-950A-CFD5-72F18EFCD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59003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6272A-02E9-F2EE-436A-3F4932E13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fragments and annotations</a:t>
            </a:r>
            <a:endParaRPr lang="LID4096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DB24A3-C16D-CA53-A6A4-4F7EE1D879CE}"/>
              </a:ext>
            </a:extLst>
          </p:cNvPr>
          <p:cNvGrpSpPr/>
          <p:nvPr/>
        </p:nvGrpSpPr>
        <p:grpSpPr>
          <a:xfrm>
            <a:off x="1415143" y="1997839"/>
            <a:ext cx="8795657" cy="3416320"/>
            <a:chOff x="1055914" y="2169659"/>
            <a:chExt cx="8795657" cy="34163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4751453-B372-41FE-6AD4-8053745813A4}"/>
                </a:ext>
              </a:extLst>
            </p:cNvPr>
            <p:cNvSpPr txBox="1"/>
            <p:nvPr/>
          </p:nvSpPr>
          <p:spPr>
            <a:xfrm>
              <a:off x="1055914" y="2169659"/>
              <a:ext cx="8795657" cy="3416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#!/usr/bin/env -S bash -l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--account=&lt;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your_account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--cluster=&lt;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your_cluster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--time=00:02:00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 first clean up your environment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module purge &amp;&gt; /dev/null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 load </a:t>
              </a:r>
              <a:r>
                <a:rPr lang="en-US" b="1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only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the modules you need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module load </a:t>
              </a:r>
              <a:r>
                <a:rPr lang="fr-BE" dirty="0">
                  <a:latin typeface="Courier New" panose="02070309020205020404" pitchFamily="49" charset="0"/>
                  <a:cs typeface="Courier New" panose="02070309020205020404" pitchFamily="49" charset="0"/>
                </a:rPr>
                <a:t>R-bundle-CRAN/2023.12-foss-2023a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A672C9-D16F-6ECC-CD9F-13E1D5E2FD77}"/>
                </a:ext>
              </a:extLst>
            </p:cNvPr>
            <p:cNvSpPr txBox="1"/>
            <p:nvPr/>
          </p:nvSpPr>
          <p:spPr>
            <a:xfrm>
              <a:off x="7815436" y="2169659"/>
              <a:ext cx="2036135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jobscript.slurm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E754873-0153-0D97-958A-06B2E493E517}"/>
              </a:ext>
            </a:extLst>
          </p:cNvPr>
          <p:cNvGrpSpPr/>
          <p:nvPr/>
        </p:nvGrpSpPr>
        <p:grpSpPr>
          <a:xfrm>
            <a:off x="5638800" y="2439565"/>
            <a:ext cx="6553200" cy="1675235"/>
            <a:chOff x="5638800" y="2439565"/>
            <a:chExt cx="6553200" cy="167523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F59F79E-E11C-9AF7-FFCE-6CF4E4F7A8DF}"/>
                </a:ext>
              </a:extLst>
            </p:cNvPr>
            <p:cNvGrpSpPr/>
            <p:nvPr/>
          </p:nvGrpSpPr>
          <p:grpSpPr>
            <a:xfrm>
              <a:off x="5638800" y="2979099"/>
              <a:ext cx="6416755" cy="1135701"/>
              <a:chOff x="-450540" y="5535406"/>
              <a:chExt cx="6416755" cy="1135701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409F96-829B-F0E2-9CA3-638A81E0EDFE}"/>
                  </a:ext>
                </a:extLst>
              </p:cNvPr>
              <p:cNvSpPr txBox="1"/>
              <p:nvPr/>
            </p:nvSpPr>
            <p:spPr>
              <a:xfrm>
                <a:off x="3707904" y="5535406"/>
                <a:ext cx="2258311" cy="36933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Reduces side effects</a:t>
                </a:r>
                <a:endParaRPr kumimoji="0" lang="nl-B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B112BDF1-5478-EDB5-1F1C-048F81465E56}"/>
                  </a:ext>
                </a:extLst>
              </p:cNvPr>
              <p:cNvCxnSpPr>
                <a:cxnSpLocks/>
                <a:stCxn id="10" idx="1"/>
              </p:cNvCxnSpPr>
              <p:nvPr/>
            </p:nvCxnSpPr>
            <p:spPr>
              <a:xfrm flipH="1">
                <a:off x="-450540" y="5720072"/>
                <a:ext cx="4158444" cy="951035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9" name="Graphic 8" descr="Thumbs up sign with solid fill">
              <a:extLst>
                <a:ext uri="{FF2B5EF4-FFF2-40B4-BE49-F238E27FC236}">
                  <a16:creationId xmlns:a16="http://schemas.microsoft.com/office/drawing/2014/main" id="{4FAF59EB-21B6-BDAF-B485-6D2BCDA531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467800" y="2439565"/>
              <a:ext cx="724200" cy="7242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9AB037-1BEC-2578-88A3-40011B584EE4}"/>
              </a:ext>
            </a:extLst>
          </p:cNvPr>
          <p:cNvGrpSpPr/>
          <p:nvPr/>
        </p:nvGrpSpPr>
        <p:grpSpPr>
          <a:xfrm>
            <a:off x="5638800" y="3693053"/>
            <a:ext cx="6416755" cy="1135701"/>
            <a:chOff x="-450540" y="5535406"/>
            <a:chExt cx="6416755" cy="113570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C3EDA34-C6EA-CACB-4B57-6632CD8078E2}"/>
                </a:ext>
              </a:extLst>
            </p:cNvPr>
            <p:cNvSpPr txBox="1"/>
            <p:nvPr/>
          </p:nvSpPr>
          <p:spPr>
            <a:xfrm>
              <a:off x="3707904" y="5535406"/>
              <a:ext cx="2258311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Reduces side effects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831DE07-2CFA-646A-1CF4-7EF5832801BD}"/>
                </a:ext>
              </a:extLst>
            </p:cNvPr>
            <p:cNvCxnSpPr>
              <a:cxnSpLocks/>
              <a:stCxn id="15" idx="1"/>
            </p:cNvCxnSpPr>
            <p:nvPr/>
          </p:nvCxnSpPr>
          <p:spPr>
            <a:xfrm flipH="1">
              <a:off x="-450540" y="5720072"/>
              <a:ext cx="4158444" cy="951035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8E15301-CD34-1440-68A4-AA4B333BF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88779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2384</TotalTime>
  <Words>1600</Words>
  <Application>Microsoft Office PowerPoint</Application>
  <PresentationFormat>Widescreen</PresentationFormat>
  <Paragraphs>290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Courier New</vt:lpstr>
      <vt:lpstr>Symbol</vt:lpstr>
      <vt:lpstr>Office Theme</vt:lpstr>
      <vt:lpstr>OpenMP GPU offloading</vt:lpstr>
      <vt:lpstr>PowerPoint Presentation</vt:lpstr>
      <vt:lpstr>PowerPoint Presentation</vt:lpstr>
      <vt:lpstr>Typographical conventions I</vt:lpstr>
      <vt:lpstr>Typographical conventions II</vt:lpstr>
      <vt:lpstr>Motivation &amp; introduction</vt:lpstr>
      <vt:lpstr>Motivation</vt:lpstr>
      <vt:lpstr>L'embarras du choix</vt:lpstr>
      <vt:lpstr>What is it?</vt:lpstr>
      <vt:lpstr>Pros &amp; cons</vt:lpstr>
      <vt:lpstr>Prerequisites</vt:lpstr>
      <vt:lpstr>Hello GPU world from C</vt:lpstr>
      <vt:lpstr>Hello GPU world from Fortran</vt:lpstr>
      <vt:lpstr>OpenMP common core</vt:lpstr>
      <vt:lpstr>Target directive</vt:lpstr>
      <vt:lpstr>Target directive clauses</vt:lpstr>
      <vt:lpstr>Map clause</vt:lpstr>
      <vt:lpstr>What to map?</vt:lpstr>
      <vt:lpstr>Array section syntax</vt:lpstr>
      <vt:lpstr>Creating teams</vt:lpstr>
      <vt:lpstr>Dividing work with loop</vt:lpstr>
      <vt:lpstr>Data movement</vt:lpstr>
      <vt:lpstr>Target data directive</vt:lpstr>
      <vt:lpstr>To do</vt:lpstr>
      <vt:lpstr>File fragments and annotations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Geert Jan Bex</dc:creator>
  <cp:lastModifiedBy>Geert Jan Bex</cp:lastModifiedBy>
  <cp:revision>5</cp:revision>
  <dcterms:created xsi:type="dcterms:W3CDTF">2025-01-17T10:10:41Z</dcterms:created>
  <dcterms:modified xsi:type="dcterms:W3CDTF">2026-06-25T07:15:05Z</dcterms:modified>
</cp:coreProperties>
</file>